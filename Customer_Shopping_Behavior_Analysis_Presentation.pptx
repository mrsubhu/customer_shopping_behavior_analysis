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-777240"/>
            <a:ext cx="4206240" cy="4206240"/>
          </a:xfrm>
          <a:prstGeom prst="ellipse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-45720"/>
            <a:ext cx="2743200" cy="2743200"/>
          </a:xfrm>
          <a:prstGeom prst="ellipse">
            <a:avLst/>
          </a:prstGeom>
          <a:solidFill>
            <a:srgbClr val="23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502920"/>
            <a:ext cx="1645920" cy="1645920"/>
          </a:xfrm>
          <a:prstGeom prst="ellipse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6858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DATA ANALYTICS • 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7498079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8FC"/>
                </a:solidFill>
                <a:latin typeface="Aptos"/>
              </a:rPr>
              <a:t>CUSTOMER SHOPPING
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6583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FBED2"/>
                </a:solidFill>
                <a:latin typeface="Aptos"/>
              </a:rPr>
              <a:t>From transactional data to smarter business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160520"/>
            <a:ext cx="2880360" cy="475488"/>
          </a:xfrm>
          <a:prstGeom prst="round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79392"/>
            <a:ext cx="2606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3D2BE"/>
                </a:solidFill>
                <a:latin typeface="Aptos"/>
              </a:rPr>
              <a:t>PYTHON  |  SQL  |  POWER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971800"/>
            <a:ext cx="1783080" cy="8686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2971800"/>
            <a:ext cx="64008" cy="868680"/>
          </a:xfrm>
          <a:prstGeom prst="rect">
            <a:avLst/>
          </a:prstGeom>
          <a:solidFill>
            <a:srgbClr val="23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136392"/>
            <a:ext cx="141731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D2BE"/>
                </a:solidFill>
                <a:latin typeface="Aptos"/>
              </a:rPr>
              <a:t>PURCHASE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3538728"/>
            <a:ext cx="1399032" cy="1737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F5F8FC"/>
                </a:solidFill>
                <a:latin typeface="Aptos"/>
              </a:rPr>
              <a:t>3,900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971800"/>
            <a:ext cx="1783080" cy="8686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18320" y="2971800"/>
            <a:ext cx="64008" cy="868680"/>
          </a:xfrm>
          <a:prstGeom prst="rect">
            <a:avLst/>
          </a:prstGeom>
          <a:solidFill>
            <a:srgbClr val="5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3136392"/>
            <a:ext cx="141731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BEFF"/>
                </a:solidFill>
                <a:latin typeface="Aptos"/>
              </a:rPr>
              <a:t>DATA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3538728"/>
            <a:ext cx="1399032" cy="1737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F5F8FC"/>
                </a:solidFill>
                <a:latin typeface="Aptos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069080"/>
            <a:ext cx="1783080" cy="8686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4069080"/>
            <a:ext cx="64008" cy="868680"/>
          </a:xfrm>
          <a:prstGeom prst="rect">
            <a:avLst/>
          </a:prstGeom>
          <a:solidFill>
            <a:srgbClr val="FFA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4233672"/>
            <a:ext cx="141731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AE5C"/>
                </a:solidFill>
                <a:latin typeface="Aptos"/>
              </a:rPr>
              <a:t>SQL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4636008"/>
            <a:ext cx="1399032" cy="1737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F5F8FC"/>
                </a:solidFill>
                <a:latin typeface="Apto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806440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AFBED2"/>
                </a:solidFill>
                <a:latin typeface="Aptos"/>
              </a:rPr>
              <a:t>PROJECT PRESENTATION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01 •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Understanding what customers buy, how they spend, and what drives repeat shopping.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15087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508760"/>
          </a:xfrm>
          <a:prstGeom prst="rect">
            <a:avLst/>
          </a:prstGeom>
          <a:solidFill>
            <a:srgbClr val="23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31089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D2BE"/>
                </a:solidFill>
                <a:latin typeface="Aptos"/>
              </a:rPr>
              <a:t>PROJECT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3090672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Uncover spending patterns, customer segments, product preferences, and subscription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15087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64008" cy="1508760"/>
          </a:xfrm>
          <a:prstGeom prst="rect">
            <a:avLst/>
          </a:prstGeom>
          <a:solidFill>
            <a:srgbClr val="5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1089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BEFF"/>
                </a:solidFill>
                <a:latin typeface="Aptos"/>
              </a:rPr>
              <a:t>ANALYTICAL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090672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Clean and prepare data in Python, query business questions in PostgreSQL, and communicate results in Power BI.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15087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64008" cy="1508760"/>
          </a:xfrm>
          <a:prstGeom prst="rect">
            <a:avLst/>
          </a:prstGeom>
          <a:solidFill>
            <a:srgbClr val="FFA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1089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AE5C"/>
                </a:solidFill>
                <a:latin typeface="Aptos"/>
              </a:rP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95728"/>
            <a:ext cx="3090672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Support smarter marketing, customer loyalty, discount strategy, and product positioning.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PROJECT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24231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1772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Prepare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560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Python / 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48006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2BE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4480560"/>
            <a:ext cx="24231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46451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8" y="461772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8" y="49560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48006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2BEFF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7376" y="4480560"/>
            <a:ext cx="24231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4536" y="46451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461772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Visualize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6" y="49560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48006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2BEFF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90304" y="4480560"/>
            <a:ext cx="24231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464515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4664" y="461772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Recommend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49560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Business actions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02 •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A transactional dataset capturing customer profile, product choices, and purchase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10972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325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3D2BE"/>
                </a:solidFill>
                <a:latin typeface="Aptos"/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Purchase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828800"/>
            <a:ext cx="3474720" cy="10972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965960"/>
            <a:ext cx="1325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2BEFF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1828800"/>
            <a:ext cx="3474720" cy="10972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3" y="1965960"/>
            <a:ext cx="1325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AE5C"/>
                </a:solidFill>
                <a:latin typeface="Aptos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7504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Missing review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KEY FEATURE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429000" cy="15544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64008" cy="1554480"/>
          </a:xfrm>
          <a:prstGeom prst="rect">
            <a:avLst/>
          </a:prstGeom>
          <a:solidFill>
            <a:srgbClr val="23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13631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D2BE"/>
                </a:solidFill>
                <a:latin typeface="Aptos"/>
              </a:rPr>
              <a:t>CUSTOMER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315968"/>
            <a:ext cx="3044952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Age • Gender • Location • Subscription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49039"/>
            <a:ext cx="3429000" cy="15544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749039"/>
            <a:ext cx="64008" cy="1554480"/>
          </a:xfrm>
          <a:prstGeom prst="rect">
            <a:avLst/>
          </a:prstGeom>
          <a:solidFill>
            <a:srgbClr val="5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913631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BEFF"/>
                </a:solidFill>
                <a:latin typeface="Aptos"/>
              </a:rPr>
              <a:t>PURCHASE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315968"/>
            <a:ext cx="3044952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Item • Category • Amount • Season • Size • Color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49039"/>
            <a:ext cx="3429000" cy="15544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749039"/>
            <a:ext cx="64008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3913631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Aptos"/>
              </a:rPr>
              <a:t>SHOPPING 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315968"/>
            <a:ext cx="3044952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Discounts • Purchase history • Frequency • Rating • Shipping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Data quality note: 37 values in Review Rating were imputed using the median rating within each product category.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03 •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Data Preparation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The preparation steps made the dataset easier to analyze and more consistent.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166360" cy="1024128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D2B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4160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Load &amp; 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58568"/>
            <a:ext cx="4160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FBED2"/>
                </a:solidFill>
                <a:latin typeface="Aptos"/>
              </a:rPr>
              <a:t>pandas, df.info(), describe()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783080"/>
            <a:ext cx="5166360" cy="1024128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9476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BE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920240"/>
            <a:ext cx="4160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Handle 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2258568"/>
            <a:ext cx="4160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FBED2"/>
                </a:solidFill>
                <a:latin typeface="Aptos"/>
              </a:rPr>
              <a:t>Category-level median for Review Rating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36391"/>
            <a:ext cx="5166360" cy="1024128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0098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D2B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73551"/>
            <a:ext cx="4160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Standardize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11879"/>
            <a:ext cx="4160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FBED2"/>
                </a:solidFill>
                <a:latin typeface="Aptos"/>
              </a:rPr>
              <a:t>Rename fields to snake_case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136391"/>
            <a:ext cx="5166360" cy="1024128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330098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BE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3273551"/>
            <a:ext cx="4160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Engineer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3611879"/>
            <a:ext cx="4160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FBED2"/>
                </a:solidFill>
                <a:latin typeface="Aptos"/>
              </a:rPr>
              <a:t>Create age_group and purchase_frequency_days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9704"/>
            <a:ext cx="5166360" cy="1024128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654296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D2BE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26864"/>
            <a:ext cx="4160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Check redundancy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65192"/>
            <a:ext cx="4160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FBED2"/>
                </a:solidFill>
                <a:latin typeface="Aptos"/>
              </a:rPr>
              <a:t>Drop promo_code_used after checking overlap with discount_applied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489704"/>
            <a:ext cx="5166360" cy="1024128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4654296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BEFF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626864"/>
            <a:ext cx="4160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Load to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4965192"/>
            <a:ext cx="4160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FBED2"/>
                </a:solidFill>
                <a:latin typeface="Aptos"/>
              </a:rPr>
              <a:t>Connect Python to PostgreSQL for SQL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04 • 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Business Questions Answered with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PostgreSQL queries were used to examine revenue, product performance, and customer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80467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801368"/>
            <a:ext cx="3520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Revenue by gender; revenue by age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91640"/>
            <a:ext cx="5166360" cy="80467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2BEFF"/>
                </a:solidFill>
                <a:latin typeface="Aptos"/>
              </a:rPr>
              <a:t>Discounts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801368"/>
            <a:ext cx="3520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High-spending discount users; discount-dependent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16352"/>
            <a:ext cx="5166360" cy="80467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35224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26080"/>
            <a:ext cx="3520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Top 5 by rating; top 3 products within each 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816352"/>
            <a:ext cx="5166360" cy="80467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35224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2BEFF"/>
                </a:solidFill>
                <a:latin typeface="Aptos"/>
              </a:rPr>
              <a:t>Shipping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926080"/>
            <a:ext cx="3520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Average purchase amount: Standard vs Express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41064"/>
            <a:ext cx="5166360" cy="80467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6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Subscriptions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050792"/>
            <a:ext cx="3520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Subscriber vs non-subscriber spend and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941064"/>
            <a:ext cx="5166360" cy="80467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59936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2BEFF"/>
                </a:solidFill>
                <a:latin typeface="Aptos"/>
              </a:rPr>
              <a:t>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050792"/>
            <a:ext cx="3520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New, Returning, and Loyal customers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5074920"/>
            <a:ext cx="5166360" cy="80467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5193792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Repeat buying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184648"/>
            <a:ext cx="3520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Whether customers with &gt;5 purchases are more likely to subscribe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05 •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An interactive visual layer brings the analysis together for easier exploration.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7315200" cy="434340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937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CUSTOMER SHOPPING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874519" cy="731520"/>
          </a:xfrm>
          <a:prstGeom prst="round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645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PURCHASES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70048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3D2BE"/>
                </a:solidFill>
                <a:latin typeface="Aptos"/>
              </a:rPr>
              <a:t>3,900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331720"/>
            <a:ext cx="1874519" cy="731520"/>
          </a:xfrm>
          <a:prstGeom prst="round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2450592"/>
            <a:ext cx="1645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670048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2BEFF"/>
                </a:solidFill>
                <a:latin typeface="Aptos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331720"/>
            <a:ext cx="1874519" cy="731520"/>
          </a:xfrm>
          <a:prstGeom prst="round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450592"/>
            <a:ext cx="1645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RATING NULLS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670048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AE5C"/>
                </a:solidFill>
                <a:latin typeface="Aptos"/>
              </a:rPr>
              <a:t>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ANALYSIS 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251960"/>
            <a:ext cx="594360" cy="1005840"/>
          </a:xfrm>
          <a:prstGeom prst="rect">
            <a:avLst/>
          </a:prstGeom>
          <a:solidFill>
            <a:srgbClr val="23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97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AFBED2"/>
                </a:solidFill>
                <a:latin typeface="Aptos"/>
              </a:rPr>
              <a:t>Gender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794760"/>
            <a:ext cx="594360" cy="1463040"/>
          </a:xfrm>
          <a:prstGeom prst="rect">
            <a:avLst/>
          </a:prstGeom>
          <a:solidFill>
            <a:srgbClr val="5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5349240"/>
            <a:ext cx="1097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AFBED2"/>
                </a:solidFill>
                <a:latin typeface="Aptos"/>
              </a:rPr>
              <a:t>Age group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4114800"/>
            <a:ext cx="594360" cy="1143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5349240"/>
            <a:ext cx="1097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AFBED2"/>
                </a:solidFill>
                <a:latin typeface="Aptos"/>
              </a:rPr>
              <a:t>Category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4434840"/>
            <a:ext cx="594360" cy="822960"/>
          </a:xfrm>
          <a:prstGeom prst="rect">
            <a:avLst/>
          </a:prstGeom>
          <a:solidFill>
            <a:srgbClr val="FFA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5349240"/>
            <a:ext cx="1097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AFBED2"/>
                </a:solidFill>
                <a:latin typeface="Aptos"/>
              </a:rPr>
              <a:t>Shipping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691640"/>
            <a:ext cx="3200400" cy="434340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011680"/>
            <a:ext cx="2651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DASHBOARD 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514600"/>
            <a:ext cx="2697480" cy="2377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Explore customer and purchase patterns</a:t>
            </a:r>
          </a:p>
          <a:p>
            <a:pPr>
              <a:spcAft>
                <a:spcPts val="12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Compare segments and subscription status</a:t>
            </a:r>
          </a:p>
          <a:p>
            <a:pPr>
              <a:spcAft>
                <a:spcPts val="12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Review product, discount, and shipping trends</a:t>
            </a:r>
          </a:p>
          <a:p>
            <a:pPr>
              <a:spcAft>
                <a:spcPts val="12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Support data-informed business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72200"/>
            <a:ext cx="10789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FBED2"/>
                </a:solidFill>
                <a:latin typeface="Aptos"/>
              </a:rPr>
              <a:t>Note: The report describes an interactive Power BI dashboard but does not include numeric dashboard findings.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06 • INSIGHT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What the Analysis Examines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The report defines the questions and methods; it does not provide the final numeric results for each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10652760" cy="62179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0574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Customer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19656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8FC"/>
                </a:solidFill>
                <a:latin typeface="Aptos"/>
              </a:rPr>
              <a:t>Compare revenue across gender and age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32888"/>
            <a:ext cx="10652760" cy="62179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20574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2BEFF"/>
                </a:solidFill>
                <a:latin typeface="Aptos"/>
              </a:rPr>
              <a:t>Product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660904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8FC"/>
                </a:solidFill>
                <a:latin typeface="Aptos"/>
              </a:rPr>
              <a:t>Identify highly rated and frequently purchased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74136"/>
            <a:ext cx="10652760" cy="62179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11296"/>
            <a:ext cx="20574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Promotion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502152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8FC"/>
                </a:solidFill>
                <a:latin typeface="Aptos"/>
              </a:rPr>
              <a:t>Find products with a high share of discounted purchases.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15384"/>
            <a:ext cx="10652760" cy="62179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20574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2BEFF"/>
                </a:solidFill>
                <a:latin typeface="Aptos"/>
              </a:rPr>
              <a:t>Customer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3434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8FC"/>
                </a:solidFill>
                <a:latin typeface="Aptos"/>
              </a:rPr>
              <a:t>Assess returning/loyal segments and subscription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56632"/>
            <a:ext cx="10652760" cy="621792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93792"/>
            <a:ext cx="20574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D2BE"/>
                </a:solidFill>
                <a:latin typeface="Aptos"/>
              </a:rPr>
              <a:t>Service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518464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8FC"/>
                </a:solidFill>
                <a:latin typeface="Aptos"/>
              </a:rPr>
              <a:t>Compare average purchase amount by shipping 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989320"/>
            <a:ext cx="10561320" cy="320040"/>
          </a:xfrm>
          <a:prstGeom prst="round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044184"/>
            <a:ext cx="10241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FAE5C"/>
                </a:solidFill>
                <a:latin typeface="Aptos"/>
              </a:rPr>
              <a:t>Reporting note: no specific winner, highest-revenue group, or subscription uplift is stated in the source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07 •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FBED2"/>
                </a:solidFill>
                <a:latin typeface="Aptos"/>
              </a:rPr>
              <a:t>Actions proposed in the report to improve customer engagement and commercial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4008" cy="1051560"/>
          </a:xfrm>
          <a:prstGeom prst="rect">
            <a:avLst/>
          </a:prstGeom>
          <a:solidFill>
            <a:srgbClr val="23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4800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D2BE"/>
                </a:solidFill>
                <a:latin typeface="Aptos"/>
              </a:rPr>
              <a:t>Boost subscriptions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4782312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Promote exclusive benefits for subscribers.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91640"/>
            <a:ext cx="51663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691640"/>
            <a:ext cx="64008" cy="1051560"/>
          </a:xfrm>
          <a:prstGeom prst="rect">
            <a:avLst/>
          </a:prstGeom>
          <a:solidFill>
            <a:srgbClr val="5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7" y="1856232"/>
            <a:ext cx="4800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2BEFF"/>
                </a:solidFill>
                <a:latin typeface="Aptos"/>
              </a:rPr>
              <a:t>Build loyalty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2258568"/>
            <a:ext cx="4782312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Reward repeat buyers and encourage progression into the Loyal segment.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1663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64008" cy="1051560"/>
          </a:xfrm>
          <a:prstGeom prst="rect">
            <a:avLst/>
          </a:prstGeom>
          <a:solidFill>
            <a:srgbClr val="FFA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82112"/>
            <a:ext cx="4800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AE5C"/>
                </a:solidFill>
                <a:latin typeface="Aptos"/>
              </a:rPr>
              <a:t>Review discounts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84448"/>
            <a:ext cx="4782312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Balance sales uplift against profit-margin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017520"/>
            <a:ext cx="51663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017520"/>
            <a:ext cx="64008" cy="10515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3182112"/>
            <a:ext cx="4800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Aptos"/>
              </a:rPr>
              <a:t>Position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584448"/>
            <a:ext cx="4782312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Highlight top-rated and best-selling products in campaigns.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343400"/>
            <a:ext cx="516636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4343400"/>
            <a:ext cx="64008" cy="1051560"/>
          </a:xfrm>
          <a:prstGeom prst="rect">
            <a:avLst/>
          </a:prstGeom>
          <a:solidFill>
            <a:srgbClr val="65D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1608" y="4507992"/>
            <a:ext cx="48006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5DC9B"/>
                </a:solidFill>
                <a:latin typeface="Aptos"/>
              </a:rPr>
              <a:t>Target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4910328"/>
            <a:ext cx="4782312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Focus on high-revenue age groups and express-shipping users.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D2BE"/>
                </a:solidFill>
                <a:latin typeface="Aptos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64008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8FC"/>
                </a:solidFill>
                <a:latin typeface="Aptos"/>
              </a:rPr>
              <a:t>Turn shopping data
into better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71800"/>
            <a:ext cx="6126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AFBED2"/>
                </a:solidFill>
                <a:latin typeface="Aptos"/>
              </a:rPr>
              <a:t>A practical analytics workflow connects data cleaning, SQL business questions, and Power BI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31720" cy="9601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718304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3D2B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663440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01091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4572000"/>
            <a:ext cx="2331720" cy="9601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4718304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2BE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663440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01091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2331720" cy="9601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718304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A78BF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663440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Communicate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501091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4572000"/>
            <a:ext cx="2331720" cy="9601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718304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AE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663440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501091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FBED2"/>
                </a:solidFill>
                <a:latin typeface="Aptos"/>
              </a:rPr>
              <a:t>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280160"/>
            <a:ext cx="2103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3D2BE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Questions?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D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7132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FBED2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3D2B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